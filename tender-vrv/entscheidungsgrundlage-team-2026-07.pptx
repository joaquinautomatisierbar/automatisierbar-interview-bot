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automatisierbar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ANGEBOTSENTSCHEID · AUTOMATISIERBAR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Ausschreibung vR verwaltungen ag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13969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Digitalisierung Order-to-Cash-Prozess — Entscheidungsgrundlage für unsere Antwort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7772400" cy="1325880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3108960"/>
            <a:ext cx="457200" cy="457200"/>
          </a:xfrm>
          <a:prstGeom prst="ellipse">
            <a:avLst/>
          </a:prstGeom>
          <a:solidFill>
            <a:srgbClr val="17231C"/>
          </a:solidFill>
          <a:ln w="12700">
            <a:solidFill>
              <a:srgbClr val="22302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18688"/>
            <a:ext cx="237744" cy="237744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3090672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 eingegangen: 2. Juli 2026 – Rolf Schmid / Mirjam Böni, vR verwaltungen ag, Solothurn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 an Kunde fällig: spätestens Montag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44988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Entscheidungsgrundlage für unsere Antwort · zur Besprechung im Team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ANFRAGE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Ausgangslage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3931920" cy="3108960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73936"/>
            <a:ext cx="457200" cy="457200"/>
          </a:xfrm>
          <a:prstGeom prst="ellipse">
            <a:avLst/>
          </a:prstGeom>
          <a:solidFill>
            <a:srgbClr val="17231C"/>
          </a:solidFill>
          <a:ln w="12700">
            <a:solidFill>
              <a:srgbClr val="2230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83664"/>
            <a:ext cx="237744" cy="237744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10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Kunde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33172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verwaltungen ag, Solothurn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Tätig in: Personalvorsorge, Immobilien, Hauswartung, Treuhand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Vertraglich verpflichtet gegenüber Kunden, v.a. Vorsorgestiftungen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20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Kontakt: Rolf Schmid (Protokoll), Mirjam Böni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0" y="1536192"/>
            <a:ext cx="4114800" cy="3108960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28032" y="1773936"/>
            <a:ext cx="457200" cy="457200"/>
          </a:xfrm>
          <a:prstGeom prst="ellipse">
            <a:avLst/>
          </a:prstGeom>
          <a:solidFill>
            <a:srgbClr val="17231C"/>
          </a:solidFill>
          <a:ln w="12700">
            <a:solidFill>
              <a:srgbClr val="22302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83664"/>
            <a:ext cx="237744" cy="237744"/>
          </a:xfrm>
          <a:prstGeom prst="ellipse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Gesuchtes Ziel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46320" y="23317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Order-to-Cash-Prozess digital abbilden: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Auftrag/Aufgabe gemäss Vertrag oder Annahme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Planen, umsetzen, bestätigen, dokumentieren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 erfassen/messen und verrechnen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20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zum vollständigen Zahlungseingang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verwaltungen ag  ·  Ausschreibung Order2Cash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KONKRET VERLANGT WIRD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Kernanforderung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572768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64208"/>
            <a:ext cx="384048" cy="384048"/>
          </a:xfrm>
          <a:prstGeom prst="ellipse">
            <a:avLst/>
          </a:prstGeom>
          <a:solidFill>
            <a:srgbClr val="17231C"/>
          </a:solidFill>
          <a:ln w="12700">
            <a:solidFill>
              <a:srgbClr val="2230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72" y="1756380"/>
            <a:ext cx="199705" cy="199705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65506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pebeFinance × O365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04825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Primär gesucht: Integration der heutigen Finanzlösung pebeFinance in die Microsoft-365-Welt – nahtlos und durchgängig, alternativ eine andere Gesamtlösung.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uns: hängt an einer offenen Schnittstelle/API von pebeFinance – muss zuerst technisch geprüft werden.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4023360" cy="1572768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83480" y="1664208"/>
            <a:ext cx="384048" cy="384048"/>
          </a:xfrm>
          <a:prstGeom prst="ellipse">
            <a:avLst/>
          </a:prstGeom>
          <a:solidFill>
            <a:srgbClr val="17231C"/>
          </a:solidFill>
          <a:ln w="12700">
            <a:solidFill>
              <a:srgbClr val="22302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652" y="1756380"/>
            <a:ext cx="199705" cy="199705"/>
          </a:xfrm>
          <a:prstGeom prst="ellipse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04688" y="165506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Mobile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83480" y="204825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Cloud-basiert, Mobile App für den Aussendienst, GPS-Anbindung und Outlook-Integration als organisatorische Voraussetzung.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983480" y="25603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uns: klar in unserem Kompetenzbereich (O365, Power Automate, App-Workflows).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57200" y="3163824"/>
            <a:ext cx="4023360" cy="1572768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3364992"/>
            <a:ext cx="384048" cy="384048"/>
          </a:xfrm>
          <a:prstGeom prst="ellipse">
            <a:avLst/>
          </a:prstGeom>
          <a:solidFill>
            <a:srgbClr val="17231C"/>
          </a:solidFill>
          <a:ln w="12700">
            <a:solidFill>
              <a:srgbClr val="22302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72" y="3457164"/>
            <a:ext cx="199705" cy="199705"/>
          </a:xfrm>
          <a:prstGeom prst="ellipse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07008" y="33558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Datenschutz &amp; KI-Strategie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85800" y="374904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 sowie eine dokumentierte KI- und Sicherheitsstrategie müssen sichergestellt und belegbar sein.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85800" y="426110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uns: erhöhter Aufwand wegen Vorsorge-Daten – Konzept statt Standardaussage nötig.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754880" y="3163824"/>
            <a:ext cx="4023360" cy="1572768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983480" y="3364992"/>
            <a:ext cx="384048" cy="384048"/>
          </a:xfrm>
          <a:prstGeom prst="ellipse">
            <a:avLst/>
          </a:prstGeom>
          <a:solidFill>
            <a:srgbClr val="17231C"/>
          </a:solidFill>
          <a:ln w="12700">
            <a:solidFill>
              <a:srgbClr val="22302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652" y="3457164"/>
            <a:ext cx="199705" cy="199705"/>
          </a:xfrm>
          <a:prstGeom prst="ellipse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04688" y="33558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Bestehende IT-Basis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983480" y="374904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vRv hat heute bereits eine cloudbasierte, vollwertige IT-Infrastruktur mit diversen Online-Applikationen im Einsatz.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983480" y="426110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uns: wir bauen auf Bestehendem auf, keine Neu-Infrastruktur auf der grünen Wiese.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verwaltungen ag  ·  Ausschreibung Order2Cash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UMSETZUNG IM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Gewünschte Funktionen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8229600" cy="512064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645920"/>
            <a:ext cx="365760" cy="365760"/>
          </a:xfrm>
          <a:prstGeom prst="ellipse">
            <a:avLst/>
          </a:prstGeom>
          <a:solidFill>
            <a:srgbClr val="17231C"/>
          </a:solidFill>
          <a:ln w="12700">
            <a:solidFill>
              <a:srgbClr val="2230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1733702"/>
            <a:ext cx="190195" cy="190195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572768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Zentralisierte Plattform für Erfassung, Abwicklung und Nachverfolgung von Aufgaben/Aufträgen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176272"/>
            <a:ext cx="8229600" cy="512064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" y="2249424"/>
            <a:ext cx="365760" cy="365760"/>
          </a:xfrm>
          <a:prstGeom prst="ellipse">
            <a:avLst/>
          </a:prstGeom>
          <a:solidFill>
            <a:srgbClr val="17231C"/>
          </a:solidFill>
          <a:ln w="12700">
            <a:solidFill>
              <a:srgbClr val="22302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74" y="2337206"/>
            <a:ext cx="190195" cy="190195"/>
          </a:xfrm>
          <a:prstGeom prst="ellipse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217627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Workflow-Automatisierung über den gesamten Prozess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2779776"/>
            <a:ext cx="8229600" cy="512064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1792" y="2852928"/>
            <a:ext cx="365760" cy="365760"/>
          </a:xfrm>
          <a:prstGeom prst="ellipse">
            <a:avLst/>
          </a:prstGeom>
          <a:solidFill>
            <a:srgbClr val="17231C"/>
          </a:solidFill>
          <a:ln w="12700">
            <a:solidFill>
              <a:srgbClr val="22302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" y="2940710"/>
            <a:ext cx="190195" cy="190195"/>
          </a:xfrm>
          <a:prstGeom prst="ellipse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2779776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Nutzung für Hauswarte – App mit Checklisten und Foto-Funktion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57200" y="3383280"/>
            <a:ext cx="8229600" cy="512064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21792" y="3456432"/>
            <a:ext cx="365760" cy="365760"/>
          </a:xfrm>
          <a:prstGeom prst="ellipse">
            <a:avLst/>
          </a:prstGeom>
          <a:solidFill>
            <a:srgbClr val="17231C"/>
          </a:solidFill>
          <a:ln w="12700">
            <a:solidFill>
              <a:srgbClr val="22302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" y="3544214"/>
            <a:ext cx="190195" cy="190195"/>
          </a:xfrm>
          <a:prstGeom prst="ellipse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70432" y="338328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Echtzeit-Kommunikation mit Mietern, Eigentümern oder Auftraggebern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57200" y="3986784"/>
            <a:ext cx="8229600" cy="512064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21792" y="4059936"/>
            <a:ext cx="365760" cy="365760"/>
          </a:xfrm>
          <a:prstGeom prst="ellipse">
            <a:avLst/>
          </a:prstGeom>
          <a:solidFill>
            <a:srgbClr val="17231C"/>
          </a:solidFill>
          <a:ln w="12700">
            <a:solidFill>
              <a:srgbClr val="223028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74" y="4147718"/>
            <a:ext cx="190195" cy="190195"/>
          </a:xfrm>
          <a:prstGeom prst="ellipse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70432" y="398678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Integrierte Abrechnung &amp; Reporting (Arbeitszeit, Materialeinsatz etc.)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457200" y="4590288"/>
            <a:ext cx="8229600" cy="512064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21792" y="4663440"/>
            <a:ext cx="365760" cy="365760"/>
          </a:xfrm>
          <a:prstGeom prst="ellipse">
            <a:avLst/>
          </a:prstGeom>
          <a:solidFill>
            <a:srgbClr val="17231C"/>
          </a:solidFill>
          <a:ln w="12700">
            <a:solidFill>
              <a:srgbClr val="223028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" y="4751222"/>
            <a:ext cx="190195" cy="190195"/>
          </a:xfrm>
          <a:prstGeom prst="ellipse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170432" y="4590288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Schnittstellen zu ERP bzw. Buchhaltungssoftware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verwaltungen ag  ·  Ausschreibung Order2Cash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ZUSTÄNDIGKEITEN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Rolle laut Ausschreibung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3931920" cy="31089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7393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83664"/>
            <a:ext cx="237744" cy="237744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10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Lösungsanbieter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33172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0F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erstellen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0F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Projektleitung übernehmen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250" b="1" dirty="0">
                <a:solidFill>
                  <a:srgbClr val="0F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vRv leistet Mitarbeit/Unterstützung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0" y="1536192"/>
            <a:ext cx="4114800" cy="3108960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28032" y="1773936"/>
            <a:ext cx="457200" cy="457200"/>
          </a:xfrm>
          <a:prstGeom prst="ellipse">
            <a:avLst/>
          </a:prstGeom>
          <a:solidFill>
            <a:srgbClr val="17231C"/>
          </a:solidFill>
          <a:ln w="12700">
            <a:solidFill>
              <a:srgbClr val="22302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83664"/>
            <a:ext cx="237744" cy="237744"/>
          </a:xfrm>
          <a:prstGeom prst="ellipse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 klärende Kriterien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46320" y="23317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Festpreis vs. Dienstleistungsangebot vs. Agil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2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Verantwortlichkeiten – Leistungsabgrenzung: wer ist wofür verantwortlich?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verwaltungen ag  ·  Ausschreibung Order2Cash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DER KUNDE VON UNS SEHEN WILL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Geforderte Informationen im Angebot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5179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 &amp; FIRMA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Firma, Team, Ansprechpartner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Rechenzentrum – Ort, Umfang, Art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Datensicherheit – Organisation, Notfallkonzept, Firewalls, Berechtigungsstruktur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Sicherheitsstandards – Endpoint Security, Firewall, VPN – ggf. BVG/FINMA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Anbindung – AlwaysOnVPN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Versicherungsdeckungen und Referenzen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09160" y="15179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ANGEBOT &amp; KOSTEN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09160" y="182880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Offertstruktur: Netzwerk (initial/laufend, Managed Services)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Offertstruktur: Hardware-Infrastruktur (on-prem/Cloud)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Offertstruktur: Betriebssoftware, Managed Services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 – Reaktionszeiten, Lösungszeiten, Verfügbarkeit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Kostenmodell – Lizenz/SaaS, Unternehmenslizenz, Custom/Enterprise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Zusatzkosten – Setup/Customizing, Datenmigration, Schulung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verwaltungen ag  ·  Ausschreibung Order2Cash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EINSCHÄTZUNG — TEIL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Chancen für uns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8229600" cy="749808"/>
          </a:xfrm>
          <a:prstGeom prst="rect">
            <a:avLst/>
          </a:prstGeom>
          <a:solidFill>
            <a:srgbClr val="163227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60934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 trifft unser Geschäft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7824" y="1901952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Order-to-Cash durchgängig automatisieren ist genau unser Spezialgebiet: Workflows, Schnittstellen, O365-Integration und App-gestützte Abläufe.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359152"/>
            <a:ext cx="8229600" cy="749808"/>
          </a:xfrm>
          <a:prstGeom prst="rect">
            <a:avLst/>
          </a:prstGeom>
          <a:solidFill>
            <a:srgbClr val="16322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4505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Werkzeuge bereits vorhanden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824" y="2743200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n8n, Power Automate und die Claude/OpenAI-APIs decken den Automatisierungsteil ohne Neuentwicklung ab – kurze Time-to-Value für den Kunden.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749808"/>
          </a:xfrm>
          <a:prstGeom prst="rect">
            <a:avLst/>
          </a:prstGeom>
          <a:solidFill>
            <a:srgbClr val="16322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2918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Starke Referenz-Wirkung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7824" y="3584448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vRv ist in Immobilien, Treuhand und Vorsorge tätig. Ein Erfolg öffnet die Tür zu weiteren KMU im selben Umfeld – ein ganzer Markt mit ähnlichem Bedarf.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041648"/>
            <a:ext cx="8229600" cy="749808"/>
          </a:xfrm>
          <a:prstGeom prst="rect">
            <a:avLst/>
          </a:prstGeom>
          <a:solidFill>
            <a:srgbClr val="163227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413308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 ist digital vorbereitet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7824" y="4425696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Bestehende Cloud-Infrastruktur und Online-Apps bedeuten: wir bauen auf einer soliden Basis auf, statt bei null anzufangen.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verwaltungen ag  ·  Ausschreibung Order2Cash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EINSCHÄTZUNG — TEIL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Risiken &amp; Knackpunkte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8229600" cy="749808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17904"/>
            <a:ext cx="822960" cy="749808"/>
          </a:xfrm>
          <a:prstGeom prst="rect">
            <a:avLst/>
          </a:prstGeom>
          <a:solidFill>
            <a:srgbClr val="2E1A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17904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160934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über Automatisierung hinaus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Rechenzentrum, BVG/FINMA-Sicherheitsstandards, SLAs und Versicherungsdeckung sind klassisches IT-Dienstleister-Terrain, nicht unser Kern.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8229600" cy="749808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59152"/>
            <a:ext cx="822960" cy="749808"/>
          </a:xfrm>
          <a:prstGeom prst="rect">
            <a:avLst/>
          </a:prstGeom>
          <a:solidFill>
            <a:srgbClr val="2E1A1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59152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17320" y="245059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pebeFinance-Schnittstelle ungeklärt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417320" y="274320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ganze Projekt hängt daran, ob pebeFinance eine offene API hat. Ohne diese Bestätigung ist eine feste Zusage riskant.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749808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00400"/>
            <a:ext cx="822960" cy="749808"/>
          </a:xfrm>
          <a:prstGeom prst="rect">
            <a:avLst/>
          </a:prstGeom>
          <a:solidFill>
            <a:srgbClr val="16322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0040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32918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 grösser als bisher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417320" y="3584448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„Architektur erstellen + Projektleitung“ bedeutet Gesamtverantwortung – ein Schritt über unsere bisherigen Projekte hinaus.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041648"/>
            <a:ext cx="8229600" cy="749808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41648"/>
            <a:ext cx="822960" cy="749808"/>
          </a:xfrm>
          <a:prstGeom prst="rect">
            <a:avLst/>
          </a:prstGeom>
          <a:solidFill>
            <a:srgbClr val="16322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41648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17320" y="413308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Regulatorik &amp; Haftung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417320" y="4425696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Vorsorge-Daten bedeuten strenge Auflagen und höhere Haftung. Fehler sind teurer als bei einem gewöhnlichen KMU-Projekt.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verwaltungen ag  ·  Ausschreibung Order2Cash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MÖGLICHE MODELLE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treten wir an?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2679192" cy="3108960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17904"/>
            <a:ext cx="2679192" cy="457200"/>
          </a:xfrm>
          <a:prstGeom prst="rect">
            <a:avLst/>
          </a:prstGeom>
          <a:solidFill>
            <a:srgbClr val="17231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17904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Voller Scope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" y="2084832"/>
            <a:ext cx="2350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bieten alles an: Automatisierung, Rechenzentrum, Security, SLAs.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331012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Grösster Auftrag, volle Kontrolle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3913632"/>
            <a:ext cx="2350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Ausserhalb unseres Kerns, hohes Risiko &amp; Haftung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3552" y="1517904"/>
            <a:ext cx="2679192" cy="3108960"/>
          </a:xfrm>
          <a:prstGeom prst="rect">
            <a:avLst/>
          </a:prstGeom>
          <a:solidFill>
            <a:srgbClr val="141F19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3552" y="1517904"/>
            <a:ext cx="2679192" cy="457200"/>
          </a:xfrm>
          <a:prstGeom prst="rect">
            <a:avLst/>
          </a:prstGeom>
          <a:solidFill>
            <a:srgbClr val="163227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1517904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Nur Automatisierung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38144" y="2084832"/>
            <a:ext cx="2350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bieten den Order-to-Cash-Workflow + O365/pebeFinance-Schnittstelle an. Security/RZ bleibt beim Kunden.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38144" y="331012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unserer Stärke, sauber abgegrenzt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38144" y="3913632"/>
            <a:ext cx="2350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Kleinerer Auftrag, deckt nicht alles ab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9904" y="1517904"/>
            <a:ext cx="2679192" cy="3108960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9904" y="1517904"/>
            <a:ext cx="2679192" cy="457200"/>
          </a:xfrm>
          <a:prstGeom prst="rect">
            <a:avLst/>
          </a:prstGeom>
          <a:solidFill>
            <a:srgbClr val="17231C"/>
          </a:solidFill>
          <a:ln/>
        </p:spPr>
      </p:sp>
      <p:sp>
        <p:nvSpPr>
          <p:cNvPr id="18" name="Text 16"/>
          <p:cNvSpPr/>
          <p:nvPr/>
        </p:nvSpPr>
        <p:spPr>
          <a:xfrm>
            <a:off x="6227064" y="1517904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Mit Partner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54496" y="2084832"/>
            <a:ext cx="2350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übernehmen Automatisierung + Projektleitung, ein IT-Partner den Security-/RZ-Teil.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54496" y="331012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Voller Scope ohne Überdehnung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54496" y="3913632"/>
            <a:ext cx="2350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finden &amp; koordinieren, Marge teilen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81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 zur Diskussion: Modell B oder C – im Kern bleiben, Scope sauber abgrenzen.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verwaltungen ag  ·  Ausschreibung Order2Cash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IM TEAM KLÄREN MÜSSEN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Offene Entscheidungen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728216"/>
            <a:ext cx="384048" cy="384048"/>
          </a:xfrm>
          <a:prstGeom prst="ellipse">
            <a:avLst/>
          </a:prstGeom>
          <a:solidFill>
            <a:srgbClr val="17231C"/>
          </a:solidFill>
          <a:ln w="12700">
            <a:solidFill>
              <a:srgbClr val="2230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40" y="1820388"/>
            <a:ext cx="199705" cy="199705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550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Welches Scope-Modell (A / B / C)?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34440" y="19568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Bestimmt Grösse, Risiko und ob wir einen Partner brauchen.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2551176"/>
            <a:ext cx="384048" cy="384048"/>
          </a:xfrm>
          <a:prstGeom prst="ellipse">
            <a:avLst/>
          </a:prstGeom>
          <a:solidFill>
            <a:srgbClr val="17231C"/>
          </a:solidFill>
          <a:ln w="12700">
            <a:solidFill>
              <a:srgbClr val="22302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40" y="2643348"/>
            <a:ext cx="199705" cy="199705"/>
          </a:xfrm>
          <a:prstGeom prst="ellipse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47802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pebeFinance-Schnittstelle technisch bestätigt?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234440" y="27797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Muss vor jeder festen Zusage geklärt sein – sonst versprechen wir Ungewisses.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8368" y="3374136"/>
            <a:ext cx="384048" cy="384048"/>
          </a:xfrm>
          <a:prstGeom prst="ellipse">
            <a:avLst/>
          </a:prstGeom>
          <a:solidFill>
            <a:srgbClr val="17231C"/>
          </a:solidFill>
          <a:ln w="12700">
            <a:solidFill>
              <a:srgbClr val="22302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40" y="3466308"/>
            <a:ext cx="199705" cy="199705"/>
          </a:xfrm>
          <a:prstGeom prst="ellipse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3009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Festpreis, Dienstleistung oder agil?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234440" y="36027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Festpreis = planbar aber riskant; Aufwand = flexibel; agil = schrittweise.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141F19"/>
          </a:solidFill>
          <a:ln w="12700">
            <a:solidFill>
              <a:srgbClr val="22302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" y="4197096"/>
            <a:ext cx="384048" cy="384048"/>
          </a:xfrm>
          <a:prstGeom prst="ellipse">
            <a:avLst/>
          </a:prstGeom>
          <a:solidFill>
            <a:srgbClr val="17231C"/>
          </a:solidFill>
          <a:ln w="12700">
            <a:solidFill>
              <a:srgbClr val="22302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40" y="4289268"/>
            <a:ext cx="199705" cy="199705"/>
          </a:xfrm>
          <a:prstGeom prst="ellipse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41239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übernimmt Projektleitung &amp; Haftung?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234440" y="44256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Vorsorge-Daten zählt klare Verantwortung und Versicherungsschutz.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verwaltungen ag  ·  Ausschreibung Order2Cash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automatisierbar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 Schritte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99339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/ Sonntag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3000" y="227685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Ausschreibung geprüft, Entscheidungsgrundlage erstellt (diese Präsentation)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8163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Morgen, 18:00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" y="309981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Team: Scope, Rolle und Angebotstyp anhand dieser Slides besprechen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63931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3000" y="392277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 an Rolf Schmid / Mirjam Böni – Zusage, Absage oder Rückfrage zum Scope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für die Kundenantwort: spätestens Montag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Ausschreibung vR verwaltungen ag – Entscheidungsgrundlage</dc:title>
  <dc:subject>PptxGenJS Presentation</dc:subject>
  <dc:creator>automatisierbar</dc:creator>
  <cp:lastModifiedBy>automatisierbar</cp:lastModifiedBy>
  <cp:revision>1</cp:revision>
  <dcterms:created xsi:type="dcterms:W3CDTF">2026-07-05T15:37:22Z</dcterms:created>
  <dcterms:modified xsi:type="dcterms:W3CDTF">2026-07-05T15:37:22Z</dcterms:modified>
</cp:coreProperties>
</file>